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E80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667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A7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364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7589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7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BUILDATHON 2026  ·  TRACK 03  ·  FAILED-PAYMENT RECOVERY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9224" y="24688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0" b="1" dirty="0">
                <a:solidFill>
                  <a:srgbClr val="F7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Overwatch</a:t>
            </a:r>
            <a:endParaRPr lang="en-US" sz="8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A7D8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revenue-integrity layer for Razorpay.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5262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catches every failed payment, decides the safest recovery with calibrated ML and a bounded policy engine, and </a:t>
            </a:r>
            <a:pPr indent="0" marL="0">
              <a:lnSpc>
                <a:spcPct val="115000"/>
              </a:lnSpc>
              <a:buNone/>
            </a:pPr>
            <a:r>
              <a:rPr lang="en-US" sz="1550" b="1" i="1" dirty="0">
                <a:solidFill>
                  <a:srgbClr val="A7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extra rupees it brings back — against a live randomized control, not an estimate.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623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+29pp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6126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lift, significant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5623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6126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ML-served decisions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5623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715000" y="6126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attacks defended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5623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2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6126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F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Azure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93389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Buildathon 2026  ·  Track 03  ·  1 / 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0584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recovers payments.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proves it worked.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46888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India, most failed payments are mechanical — a UPI collect times out, a bank blips, an auto-debit hits its retry cap. They are recoverable.
</a:t>
            </a:r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retrying is the easy part. The real question is the </a:t>
            </a:r>
            <a:pPr indent="0" marL="0">
              <a:lnSpc>
                <a:spcPct val="122000"/>
              </a:lnSpc>
              <a:buNone/>
            </a:pPr>
            <a:r>
              <a:rPr lang="en-US" sz="1550" b="1" i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</a:t>
            </a:r>
            <a:pPr indent="0" marL="0">
              <a:lnSpc>
                <a:spcPct val="122000"/>
              </a:lnSpc>
              <a:buNone/>
            </a:pPr>
            <a:r>
              <a:rPr lang="en-US" sz="155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did the retry actually work — or would the customer have paid anyway? A “rupees recovered” number can’t answer that. You need a control.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720840" y="2377440"/>
            <a:ext cx="48006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95160" y="2651760"/>
            <a:ext cx="640080" cy="640080"/>
          </a:xfrm>
          <a:prstGeom prst="ellipse">
            <a:avLst/>
          </a:prstGeom>
          <a:solidFill>
            <a:srgbClr val="F0E3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99516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5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everyone reports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30175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recovered ₹12L” — a gross number with no baseline. You can’t tell how much was truly incremental.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20840" y="4160520"/>
            <a:ext cx="4800600" cy="1600200"/>
          </a:xfrm>
          <a:prstGeom prst="roundRect">
            <a:avLst>
              <a:gd name="adj" fmla="val 6857"/>
            </a:avLst>
          </a:prstGeom>
          <a:solidFill>
            <a:srgbClr val="16281F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95160" y="4434840"/>
            <a:ext cx="640080" cy="640080"/>
          </a:xfrm>
          <a:prstGeom prst="ellipse">
            <a:avLst/>
          </a:prstGeom>
          <a:solidFill>
            <a:srgbClr val="2C50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9516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4480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matters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48006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rupees vs a randomized control — measured, defensible, and honest about what didn’t work.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E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93389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E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Buildathon 2026  ·  Track 03  ·  2 / 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05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four jobs.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834640"/>
            <a:ext cx="777240" cy="777240"/>
          </a:xfrm>
          <a:prstGeom prst="ellipse">
            <a:avLst/>
          </a:prstGeom>
          <a:solidFill>
            <a:srgbClr val="E4EF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834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947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251960"/>
            <a:ext cx="184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every failure and diagnose why — with live anomaly detection on failure spikes.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365760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A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65576" y="251460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85616" y="2834640"/>
            <a:ext cx="777240" cy="777240"/>
          </a:xfrm>
          <a:prstGeom prst="ellipse">
            <a:avLst/>
          </a:prstGeom>
          <a:solidFill>
            <a:srgbClr val="E4EFE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85616" y="2834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785616" y="37947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785616" y="4251960"/>
            <a:ext cx="184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safest move with calibrated ML uplift — checked against RBI / NPCI policy.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34456" y="365760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A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45352" y="251460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65392" y="2834640"/>
            <a:ext cx="777240" cy="777240"/>
          </a:xfrm>
          <a:prstGeom prst="ellipse">
            <a:avLst/>
          </a:prstGeom>
          <a:solidFill>
            <a:srgbClr val="E4EFE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65392" y="2834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37947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4251960"/>
            <a:ext cx="184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retry or a fresh payment link — signed, exactly-once webhooks.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714232" y="3657600"/>
            <a:ext cx="329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A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25128" y="2514600"/>
            <a:ext cx="2487168" cy="29260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45168" y="2834640"/>
            <a:ext cx="777240" cy="777240"/>
          </a:xfrm>
          <a:prstGeom prst="ellipse">
            <a:avLst/>
          </a:prstGeom>
          <a:solidFill>
            <a:srgbClr val="2C50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45168" y="28346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345168" y="37947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E80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9345168" y="4251960"/>
            <a:ext cx="1847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real incremental result vs a live 20% randomized control.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AI-drafted message is fact-checked against the arithmetic and policy before a single rupee moves.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E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93389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E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Buildathon 2026  ·  Track 03  ·  3 / 7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7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05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estimated.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dirty="0">
                <a:solidFill>
                  <a:srgbClr val="C2A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+29pp</a:t>
            </a:r>
            <a:endParaRPr lang="en-US" sz="10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recovery lift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245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F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[+19, +38]  ·  statistically significant  ·  ₹7.6L incremental on the live run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937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A7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cases are held back as a randomized control</a:t>
            </a:r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action, on purpose. That’s what turns “recovered” into a true measurement.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F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— same failures, split at random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816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(ML + policy)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0" y="3127248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24493B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3127248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5FA47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351008" y="3108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867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(no action)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4178808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244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4178808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5B6E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99248" y="4160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0" y="502920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24493B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5230368"/>
            <a:ext cx="548640" cy="548640"/>
          </a:xfrm>
          <a:prstGeom prst="ellipse">
            <a:avLst/>
          </a:prstGeom>
          <a:solidFill>
            <a:srgbClr val="3A5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5230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A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51206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A7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our losses.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reasons did worse than control — the Lab flags them and auto-stops spending there.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93389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Buildathon 2026  ·  Track 03  ·  4 / 7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HARD TO COPY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05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 of rigor.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743200"/>
            <a:ext cx="566928" cy="566928"/>
          </a:xfrm>
          <a:prstGeom prst="ellipse">
            <a:avLst/>
          </a:prstGeom>
          <a:solidFill>
            <a:srgbClr val="E4EF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4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74320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Causal uplift ML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33756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who to treat, not just who’ll pay. Qini 0.93, calibrated (ECE 0.008).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4343400" y="246888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743200"/>
            <a:ext cx="566928" cy="566928"/>
          </a:xfrm>
          <a:prstGeom prst="ellipse">
            <a:avLst/>
          </a:prstGeom>
          <a:solidFill>
            <a:srgbClr val="E4EFE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9432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4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74320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Conformal certainty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33756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gets a coverage-guaranteed bucket; the uncertain route to a human. 90.7% coverage.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001000" y="246888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57032" y="2743200"/>
            <a:ext cx="566928" cy="566928"/>
          </a:xfrm>
          <a:prstGeom prst="ellipse">
            <a:avLst/>
          </a:prstGeom>
          <a:solidFill>
            <a:srgbClr val="E4EFE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57032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4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274320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Real-RCT validated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257032" y="333756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estimator recovers a real 64,000-customer public trial’s true effect within 1.9%.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85800" y="429768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1832" y="4572000"/>
            <a:ext cx="566928" cy="566928"/>
          </a:xfrm>
          <a:prstGeom prst="ellipse">
            <a:avLst/>
          </a:prstGeom>
          <a:solidFill>
            <a:srgbClr val="E4EFE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4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457200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Red-teamed policy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516636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/ NPCI rules enforced in code; 8 of 8 adversarial attacks defended by independent oracles.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4343400" y="429768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572000"/>
            <a:ext cx="566928" cy="566928"/>
          </a:xfrm>
          <a:prstGeom prst="ellipse">
            <a:avLst/>
          </a:prstGeom>
          <a:solidFill>
            <a:srgbClr val="E4EFE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9432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4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57200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ledger</a:t>
            </a:r>
            <a:endParaRPr lang="en-US" sz="165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516636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in a SHA-256 hash chain the database itself keeps append-only.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001000" y="4297680"/>
            <a:ext cx="340156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57032" y="4572000"/>
            <a:ext cx="566928" cy="566928"/>
          </a:xfrm>
          <a:prstGeom prst="ellipse">
            <a:avLst/>
          </a:prstGeom>
          <a:solidFill>
            <a:srgbClr val="E4EFE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57032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40" dirty="0"/>
          </a:p>
        </p:txBody>
      </p:sp>
      <p:sp>
        <p:nvSpPr>
          <p:cNvPr id="32" name="Text 30"/>
          <p:cNvSpPr txBox="1"/>
          <p:nvPr/>
        </p:nvSpPr>
        <p:spPr>
          <a:xfrm>
            <a:off x="8961120" y="457200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Provable, in CI</a:t>
            </a:r>
            <a:endParaRPr lang="en-US" sz="1650" dirty="0"/>
          </a:p>
        </p:txBody>
      </p:sp>
      <p:sp>
        <p:nvSpPr>
          <p:cNvPr id="33" name="Text 31"/>
          <p:cNvSpPr txBox="1"/>
          <p:nvPr/>
        </p:nvSpPr>
        <p:spPr>
          <a:xfrm>
            <a:off x="8257032" y="516636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8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tests; every headline number locked to its ML artifact. One command: prove.</a:t>
            </a:r>
            <a:endParaRPr lang="en-US" sz="118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E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93389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E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Buildathon 2026  ·  Track 03  ·  5 / 7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COMPETITOR WILL 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058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is the feature.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603504" cy="603504"/>
          </a:xfrm>
          <a:prstGeom prst="ellipse">
            <a:avLst/>
          </a:prstGeom>
          <a:solidFill>
            <a:srgbClr val="E4EF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5146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496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 pilot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84378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plan was git-tagged before the run, then reported gate by gate: 6 of 7 passed, 1 missed — and we say which.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447288"/>
            <a:ext cx="603504" cy="603504"/>
          </a:xfrm>
          <a:prstGeom prst="ellipse">
            <a:avLst/>
          </a:prstGeom>
          <a:solidFill>
            <a:srgbClr val="E4EF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4472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report the losses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77647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reasons lost to control on the live run. Both are auto-suppressed, not hidden.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379976"/>
            <a:ext cx="603504" cy="603504"/>
          </a:xfrm>
          <a:prstGeom prst="ellipse">
            <a:avLst/>
          </a:prstGeom>
          <a:solidFill>
            <a:srgbClr val="E4EF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3799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361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to the artifacts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70916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 judge reads is pinned to the ML file that produced it; CI fails on drift. 86 tests.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312664"/>
            <a:ext cx="603504" cy="603504"/>
          </a:xfrm>
          <a:prstGeom prst="ellipse">
            <a:avLst/>
          </a:prstGeom>
          <a:solidFill>
            <a:srgbClr val="E4EFE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3126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4E8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2943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Real, not mocked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64184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94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Razorpay test-mode captures, signed exactly-once webhooks, verifiable on Razorpay itself.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92440" y="25146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6281F"/>
          </a:solidFill>
          <a:ln w="12700">
            <a:solidFill>
              <a:srgbClr val="DCD2BF"/>
            </a:solidFill>
            <a:prstDash val="solid"/>
          </a:ln>
          <a:effectLst>
            <a:outerShdw sx="100000" sy="100000" kx="0" ky="0" algn="bl" rotWithShape="0" blurRad="127000" dist="38100" dir="5400000">
              <a:srgbClr val="1E3A2E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75320" y="25603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A7D8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4290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F7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tool that only shows wins is hiding something.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5212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A7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prove  →  every claim, re-derived from code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E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93389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6E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Buildathon 2026  ·  Track 03  ·  6 / 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E806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667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A7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364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011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A7D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33172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7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plugs under Razorpay —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7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against it.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D8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ML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6817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treat, and how sure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D8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execution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46817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RBI / NPCI policy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D8B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you can trust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46817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a live control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577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 ·  Live  ·  Every number defensible.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overwatch-web.happytree-e373af54.uaenorth.azurecontainerapps.io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93389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00" kern="0" dirty="0">
                <a:solidFill>
                  <a:srgbClr val="8FA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Buildathon 2026  ·  Track 03  ·  7 / 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Overwatch — Buildathon 2026</dc:title>
  <dc:subject>PptxGenJS Presentation</dc:subject>
  <dc:creator>Overwatch</dc:creator>
  <cp:lastModifiedBy>Overwatch</cp:lastModifiedBy>
  <cp:revision>1</cp:revision>
  <dcterms:created xsi:type="dcterms:W3CDTF">2026-09-03T20:24:10Z</dcterms:created>
  <dcterms:modified xsi:type="dcterms:W3CDTF">2026-09-03T20:24:10Z</dcterms:modified>
</cp:coreProperties>
</file>